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70" r:id="rId21"/>
    <p:sldId id="271" r:id="rId22"/>
    <p:sldId id="263" r:id="rId14"/>
    <p:sldId id="264" r:id="rId15"/>
    <p:sldId id="265" r:id="rId16"/>
    <p:sldId id="272" r:id="rId23"/>
    <p:sldId id="266" r:id="rId17"/>
    <p:sldId id="267" r:id="rId18"/>
    <p:sldId id="268" r:id="rId19"/>
    <p:sldId id="273" r:id="rId24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8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3.xml"/><Relationship Id="rId24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1488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</a:rPr>
              <a:t>Garage Boilerplate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1143000" y="3246120"/>
            <a:ext cx="2011680" cy="635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CBD5E1"/>
                </a:solidFill>
              </a:rPr>
              <a:t>Next.js + Firebase — from clone to shipped feature, real Firebase, zero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</a:rPr>
              <a:t>A beginner-friendly tour  ·  full guide: docs/GUIDE.md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F172A"/>
                </a:solidFill>
              </a:rPr>
              <a:t>What's in the box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Everything pre-wired — you write features, not plumbing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520440" cy="17830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Frontend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Next.js 16 · React 19 · TypeScript · Tailwind v4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53128" y="2286000"/>
            <a:ext cx="3520440" cy="17830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Backend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Express API on Firebase Cloud Functions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57616" y="2286000"/>
            <a:ext cx="3520440" cy="17830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Data &amp; Auth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Firestore · Firebase Auth — free Spark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43400"/>
            <a:ext cx="3520440" cy="17830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Local dev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Talks to your real Firebase project — no Docker, no emulator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4343400"/>
            <a:ext cx="3520440" cy="17830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Quality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Vitest tests · lint · typecheck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57616" y="4343400"/>
            <a:ext cx="3520440" cy="17830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AI tooling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Optional — skills, agents &amp; guard hooks (next up)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F172A"/>
                </a:solidFill>
              </a:rPr>
              <a:t>The big picture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Three parts — the browser talks to all of them, every path is guarded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520440" cy="237744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1 · Frontend (Next.js)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Pages render on the server by default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Interactive bits run in the browser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Live data straight from Firestore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53128" y="2286000"/>
            <a:ext cx="3520440" cy="237744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2 · Backend API (Express)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One Cloud Function, many routes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For logic that can't live client-side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Many features never need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57616" y="2286000"/>
            <a:ext cx="3520440" cy="237744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3 · Firebase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Auth — sign-in &amp; sessions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Firestore — the database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Free tier the whole way — no billing 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A"/>
                </a:solidFill>
              </a:rPr>
              <a:t>Every data path has its own guard: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</a:rPr>
              <a:t>Browser → Firestore:  security rules      Pages &amp; mutations:  requireAuth()      API:  token middleware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</a:rPr>
              <a:t>Diagrams: docs/ARCHITECTURE.md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F172A"/>
                </a:solidFill>
              </a:rPr>
              <a:t>The three golden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Everything else in the codebase follows from these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11064240" cy="12801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1 · Never trust the browser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Every read and write is checked server-side — rules, requireAuth(), or the API's auth middleware.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11064240" cy="12801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2 · Server Components by default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Only add 'use client' when a file needs clicks, typing, or live updates.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120640"/>
            <a:ext cx="11064240" cy="12801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3 · One collection, four places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Type + typed collection + security rules + schema doc.  The /firebase-collection skill does all four.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F172A"/>
                </a:solidFill>
              </a:rPr>
              <a:t>Setup in four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Once per machine + once per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5257800" cy="1874519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1 · Install the tools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Node.js 22, pnpm — that's the whole 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286000"/>
            <a:ext cx="5257800" cy="1874519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2 · Bootstrap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pnpm run bootstrap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Installs deps, creates .env from the template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434840"/>
            <a:ext cx="5257800" cy="1874519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3 · Connect Firebase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Create a project in the Firebase console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Paste its config values into the root .env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434840"/>
            <a:ext cx="5257800" cy="1874519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4 · Run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pnpm run dev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App on :3000 — talking to your real Firebase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F172A"/>
                </a:solidFill>
              </a:rPr>
              <a:t>One env 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All configuration lives in the root .env — nothing is scattered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4023360" cy="21031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.env  (you edit this)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Firebase project id + keys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Web app config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Service-account key (server-only secret)</a:t>
            </a:r>
          </a:p>
        </p:txBody>
      </p:sp>
      <p:sp>
        <p:nvSpPr>
          <p:cNvPr id="6" name="Can 5"/>
          <p:cNvSpPr/>
          <p:nvPr/>
        </p:nvSpPr>
        <p:spPr>
          <a:xfrm>
            <a:off x="4800600" y="3063240"/>
            <a:ext cx="1280160" cy="548640"/>
          </a:xfrm>
          <a:prstGeom prst="ca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2148840"/>
            <a:ext cx="5303520" cy="11430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frontend/.env.local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generated — read by Next.js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474720"/>
            <a:ext cx="5303520" cy="11430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backend/.env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generated — read by the Firebase CLI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F59E0B"/>
                </a:solidFill>
              </a:rPr>
              <a:t>•  </a:t>
            </a:r>
            <a:r>
              <a:rPr sz="1700" b="0">
                <a:solidFill>
                  <a:srgbClr val="334155"/>
                </a:solidFill>
              </a:rPr>
              <a:t>pnpm run env:sync regenerates the package files (runs automatically before pnpm run dev).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F59E0B"/>
                </a:solidFill>
              </a:rPr>
              <a:t>•  </a:t>
            </a:r>
            <a:r>
              <a:rPr sz="1700" b="0">
                <a:solidFill>
                  <a:srgbClr val="334155"/>
                </a:solidFill>
              </a:rPr>
              <a:t>Never edit the generated files — change .env and restart.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F59E0B"/>
                </a:solidFill>
              </a:rPr>
              <a:t>•  </a:t>
            </a:r>
            <a:r>
              <a:rPr sz="1700" b="0">
                <a:solidFill>
                  <a:srgbClr val="334155"/>
                </a:solidFill>
              </a:rPr>
              <a:t>Project id and the service-account key are each defined exactly once.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F172A"/>
                </a:solidFill>
              </a:rPr>
              <a:t>The development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The same rhythm for every feature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51760"/>
            <a:ext cx="2423160" cy="20116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Branch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/git-feature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never work on main</a:t>
            </a:r>
          </a:p>
        </p:txBody>
      </p:sp>
      <p:sp>
        <p:nvSpPr>
          <p:cNvPr id="6" name="Can 5"/>
          <p:cNvSpPr/>
          <p:nvPr/>
        </p:nvSpPr>
        <p:spPr>
          <a:xfrm>
            <a:off x="3017520" y="3429000"/>
            <a:ext cx="384048" cy="457200"/>
          </a:xfrm>
          <a:prstGeom prst="ca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2651760"/>
            <a:ext cx="2423160" cy="20116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Build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scaffold with skills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(next slides)</a:t>
            </a:r>
          </a:p>
        </p:txBody>
      </p:sp>
      <p:sp>
        <p:nvSpPr>
          <p:cNvPr id="8" name="Can 7"/>
          <p:cNvSpPr/>
          <p:nvPr/>
        </p:nvSpPr>
        <p:spPr>
          <a:xfrm>
            <a:off x="5943600" y="3429000"/>
            <a:ext cx="384048" cy="457200"/>
          </a:xfrm>
          <a:prstGeom prst="ca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2651760"/>
            <a:ext cx="2423160" cy="20116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Verify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/verify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lint · types · tests</a:t>
            </a:r>
          </a:p>
        </p:txBody>
      </p:sp>
      <p:sp>
        <p:nvSpPr>
          <p:cNvPr id="10" name="Can 9"/>
          <p:cNvSpPr/>
          <p:nvPr/>
        </p:nvSpPr>
        <p:spPr>
          <a:xfrm>
            <a:off x="8869680" y="3429000"/>
            <a:ext cx="384048" cy="457200"/>
          </a:xfrm>
          <a:prstGeom prst="ca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0" y="2651760"/>
            <a:ext cx="2423160" cy="20116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PR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into develop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Conventional Commits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12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Commit format is enforced:  feat: add notes list   ·   fix: handle empty title   ·   docs: update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F172A"/>
                </a:solidFill>
              </a:rPr>
              <a:t>The AI parts — fully optional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This repo ships a Claude Code harness. You can build the whole capstone without ever touching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11064240" cy="12801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Skills — slash-command shortcuts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Type /new-page, /firebase-collection, /add-route, /verify and Claude scaffolds the file(s) for you. Every skill used in this guide has a documented manual alternative — nothing here is required.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11064240" cy="12801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Agents — specialists that review, not write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security-reviewer audits your staged changes before a PR. doc-auditor checks the docs still match the code. test-writer writes Vitest tests for a file you point it 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120640"/>
            <a:ext cx="11064240" cy="12801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Guard hooks — safety rails, not suggestions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Automatic checks on every edit and command: blocks TypeScript any, blocks direct pushes to main, blocks firebase deploy without your explicit approval, blocks committing secrets or service-account keys.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F172A"/>
                </a:solidFill>
              </a:rPr>
              <a:t>Three ways to learn the same feature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Pick whichever fits how you learn — they all build the exact same 'notes' feature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11064240" cy="12801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AI-guided — docs/GUIDE.md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Claude Code runs the skills for you. Fastest path if you trust the tool and want to focus on the concepts, not the typing.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11064240" cy="12801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Copy-paste, no AI — docs/COPY-PASTE-TUTORIAL.md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Zero mentions of Claude Code. Every file has its exact path and its exact full contents to paste. Built for understanding precisely where every piece lives.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120640"/>
            <a:ext cx="11064240" cy="12801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Verified reference — docs/TUTORIAL-WALKTHROUGH.md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Every code block and every security-rule test result on the next slides, actually run against a real Firebase project. The answer key if your own build is not working.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</a:rPr>
              <a:t>Let's build a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657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CBD5E1"/>
                </a:solidFill>
              </a:rPr>
              <a:t>“Notes” — users create and see their own notes, fully secured.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59E0B"/>
                </a:solidFill>
              </a:rPr>
              <a:t>Four steps: define the data → write the mutation → build the form → show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F172A"/>
                </a:solidFill>
              </a:rPr>
              <a:t>Step 1 · Define the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Run /firebase-collection — it touches all four places for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5486400" cy="39319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The four places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1. TypeScript type — types/firestore.ts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2. Typed collection — lib/firebase/firestore.ts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3. Security rules — firebase/firestore.rules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4. Schema doc — docs/FIRESTORE-SCHEMA.md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286000"/>
            <a:ext cx="5212080" cy="39319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The rules say…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Users only read their own notes  (uid match)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Users only create notes they own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The owner can never change  (uid immutable)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No hard deletes — set deletedAt instead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F172A"/>
                </a:solidFill>
              </a:rPr>
              <a:t>Step 2 · Write the mutation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A Server Action — runs on the server, called like a function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11430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Beat 1 — Who is asking?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const session = await requireAuth()   →  redirects to sign-in if nobody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11880"/>
            <a:ext cx="11064240" cy="11430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Beat 2 — Is the input sane?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createNoteSchema.safeParse(input)   →  Zod validates before anything touches the 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937760"/>
            <a:ext cx="11064240" cy="11430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Beat 3 — Write, never throw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return { success: true, data: id }  or  { success: false, error }   →  the ActionResult shape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F172A"/>
                </a:solidFill>
              </a:rPr>
              <a:t>Step 3 · Build the 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A Client Component that actually calls the mutation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5486400" cy="39319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CreateNoteForm.tsx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react-hook-form + zod — same pattern as the sign-up form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onSubmit calls createNote(data) directly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toast.success / toast.error report the result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reset() clears the fields after a successful save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286000"/>
            <a:ext cx="5212080" cy="39319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Why this slide exists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The original version of this tutorial defined createNote() but never called it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Without a form, NotesList stays permanently empty — nothing to subscribe to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No manual refresh needed — the live onSnapshot listener in NotesList picks up the write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Tested with @testing-library/user-event: real typing, real clicking, real assertions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F172A"/>
                </a:solidFill>
              </a:rPr>
              <a:t>Step 4 · Show the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A server page + a small live client component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5486400" cy="329184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page.tsx  (Server Component)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Created with /new-page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Calls requireAuth() first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Renders: header + &lt;CreateNoteForm /&gt; + &lt;NotesList /&gt;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286000"/>
            <a:ext cx="5212080" cy="329184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NotesList.tsx  ('use client')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useCollection() subscribes via onSnapshot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Filters where('uid', '==', user.uid)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UI updates live as notes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</a:rPr>
              <a:t>Add a Sidebar link, run /verify, commit — feature shipped.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F172A"/>
                </a:solidFill>
              </a:rPr>
              <a:t>Where things go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One skill per job — let Claude Code do the boilerplate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63040" y="2103120"/>
          <a:ext cx="92354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3657600"/>
              </a:tblGrid>
              <a:tr h="4673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I want to…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Skill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Add a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59E0B"/>
                          </a:solidFill>
                          <a:latin typeface="Courier New"/>
                        </a:rPr>
                        <a:t>/new-page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Add a business feature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59E0B"/>
                          </a:solidFill>
                          <a:latin typeface="Courier New"/>
                        </a:rPr>
                        <a:t>/new-feature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Add a database collection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59E0B"/>
                          </a:solidFill>
                          <a:latin typeface="Courier New"/>
                        </a:rPr>
                        <a:t>/firebase-collection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Change a collection's fields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59E0B"/>
                          </a:solidFill>
                          <a:latin typeface="Courier New"/>
                        </a:rPr>
                        <a:t>/evolve-schema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Add an API endpoint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59E0B"/>
                          </a:solidFill>
                          <a:latin typeface="Courier New"/>
                        </a:rPr>
                        <a:t>/add-route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Add a config value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59E0B"/>
                          </a:solidFill>
                          <a:latin typeface="Courier New"/>
                        </a:rPr>
                        <a:t>/add-env-var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Add Google/GitHub sign-in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59E0B"/>
                          </a:solidFill>
                          <a:latin typeface="Courier New"/>
                        </a:rPr>
                        <a:t>/add-auth-provider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Check everything before a PR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59E0B"/>
                          </a:solidFill>
                          <a:latin typeface="Courier New"/>
                        </a:rPr>
                        <a:t>/verify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t>Add a reusable component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/new-component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F172A"/>
                </a:solidFill>
              </a:rPr>
              <a:t>Common pitfalls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The five errors every beginner hits — and the fix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11064240" cy="77724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</a:rPr>
              <a:t>auth/invalid-api-key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276856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</a:rPr>
              <a:t>Fill NEXT_PUBLIC_FIREBASE_* in .env, then restart the dev 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44952"/>
            <a:ext cx="11064240" cy="77724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</a:rPr>
              <a:t>Changed .env, nothing happened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172968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</a:rPr>
              <a:t>Values are baked in at startup — restart pnpm run dev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41064"/>
            <a:ext cx="11064240" cy="77724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</a:rPr>
              <a:t>“Missing or insufficient permissions”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069080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</a:rPr>
              <a:t>Firestore rules don't allow it — add rules, then firebase deploy --only firestore:rules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37176"/>
            <a:ext cx="11064240" cy="77724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</a:rPr>
              <a:t>Hook/useState error in a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4965192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</a:rPr>
              <a:t>That file needs 'use client' — or move the interactive part 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733288"/>
            <a:ext cx="11064240" cy="77724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</a:rPr>
              <a:t>Commit rejected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5861304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</a:rPr>
              <a:t>Use Conventional Commits:  feat: …  fix: …  docs: 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F172A"/>
                </a:solidFill>
              </a:rPr>
              <a:t>Shipping it — free, no billing account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Local dev already talks to your real Firebase project — going live is just picking a host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11064240" cy="12801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Why not Firebase Hosting?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This app is server-rendered (Server Actions, session cookies). Firebase's SSR hosting runs on Cloud Functions, which needs the paid Blaze plan even at zero traffic.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11064240" cy="12801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Deploy the frontend to Vercel instead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Sign in with GitHub, import the repo, set Root Directory to frontend, paste your .env values in as environment variables. Every push to main auto-deploys — free Hobby tier, no card required.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120640"/>
            <a:ext cx="11064240" cy="12801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</a:rPr>
              <a:t>The backend, only if you use it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Deploying the optional Express API does need Blaze — most capstone features never touch it, so most students never need to upgrade at 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</a:rPr>
              <a:t>Learn more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143000" y="2286000"/>
            <a:ext cx="146304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F59E0B"/>
                </a:solidFill>
                <a:latin typeface="Courier New"/>
              </a:rPr>
              <a:t>docs/GUIDE.md</a:t>
            </a:r>
            <a:r>
              <a:rPr sz="1800">
                <a:solidFill>
                  <a:srgbClr val="CBD5E1"/>
                </a:solidFill>
              </a:rPr>
              <a:t>   —  the full step-by-step tutorial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59E0B"/>
                </a:solidFill>
                <a:latin typeface="Courier New"/>
              </a:rPr>
              <a:t>docs/ARCHITECTURE.md</a:t>
            </a:r>
            <a:r>
              <a:rPr sz="1800">
                <a:solidFill>
                  <a:srgbClr val="CBD5E1"/>
                </a:solidFill>
              </a:rPr>
              <a:t>   —  system diagrams &amp; design decisions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59E0B"/>
                </a:solidFill>
                <a:latin typeface="Courier New"/>
              </a:rPr>
              <a:t>docs/FRONTEND.md · docs/BACKEND.md</a:t>
            </a:r>
            <a:r>
              <a:rPr sz="1800">
                <a:solidFill>
                  <a:srgbClr val="CBD5E1"/>
                </a:solidFill>
              </a:rPr>
              <a:t>   —  per-package conventions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59E0B"/>
                </a:solidFill>
                <a:latin typeface="Courier New"/>
              </a:rPr>
              <a:t>docs/SECURITY.md</a:t>
            </a:r>
            <a:r>
              <a:rPr sz="1800">
                <a:solidFill>
                  <a:srgbClr val="CBD5E1"/>
                </a:solidFill>
              </a:rPr>
              <a:t>   —  the security model, layer by layer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59E0B"/>
                </a:solidFill>
                <a:latin typeface="Courier New"/>
              </a:rPr>
              <a:t>README.md</a:t>
            </a:r>
            <a:r>
              <a:rPr sz="1800">
                <a:solidFill>
                  <a:srgbClr val="CBD5E1"/>
                </a:solidFill>
              </a:rPr>
              <a:t>   —  setup, commands, troubleshooting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59E0B"/>
                </a:solidFill>
                <a:latin typeface="Courier New"/>
              </a:rPr>
              <a:t>docs/COPY-PASTE-TUTORIAL.md</a:t>
            </a:r>
            <a:r>
              <a:rPr sz="1800">
                <a:solidFill>
                  <a:srgbClr val="CBD5E1"/>
                </a:solidFill>
              </a:rPr>
              <a:t>   —  build the same feature, zero AI, exact file paths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59E0B"/>
                </a:solidFill>
                <a:latin typeface="Courier New"/>
              </a:rPr>
              <a:t>docs/CI-CD.md</a:t>
            </a:r>
            <a:r>
              <a:rPr sz="1800">
                <a:solidFill>
                  <a:srgbClr val="CBD5E1"/>
                </a:solidFill>
              </a:rPr>
              <a:t>   —  deploying to Vercel + Firestore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</a:rPr>
              <a:t>Happy shipping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